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3" r:id="rId5"/>
    <p:sldId id="260" r:id="rId6"/>
    <p:sldId id="261" r:id="rId7"/>
    <p:sldId id="262" r:id="rId8"/>
    <p:sldId id="264" r:id="rId9"/>
    <p:sldId id="265" r:id="rId10"/>
    <p:sldId id="266" r:id="rId11"/>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1674" y="-21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fld id="{B568441F-78AF-4B28-979B-7ED60397323A}" type="datetimeFigureOut">
              <a:rPr lang="es-AR" smtClean="0"/>
              <a:t>5/5/2026</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B7AFD526-1BC8-43F0-8AD0-7DB9A113A82E}" type="slidenum">
              <a:rPr lang="es-AR" smtClean="0"/>
              <a:t>‹Nº›</a:t>
            </a:fld>
            <a:endParaRPr lang="es-AR"/>
          </a:p>
        </p:txBody>
      </p:sp>
    </p:spTree>
    <p:extLst>
      <p:ext uri="{BB962C8B-B14F-4D97-AF65-F5344CB8AC3E}">
        <p14:creationId xmlns:p14="http://schemas.microsoft.com/office/powerpoint/2010/main" val="445658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B568441F-78AF-4B28-979B-7ED60397323A}" type="datetimeFigureOut">
              <a:rPr lang="es-AR" smtClean="0"/>
              <a:t>5/5/2026</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B7AFD526-1BC8-43F0-8AD0-7DB9A113A82E}" type="slidenum">
              <a:rPr lang="es-AR" smtClean="0"/>
              <a:t>‹Nº›</a:t>
            </a:fld>
            <a:endParaRPr lang="es-AR"/>
          </a:p>
        </p:txBody>
      </p:sp>
    </p:spTree>
    <p:extLst>
      <p:ext uri="{BB962C8B-B14F-4D97-AF65-F5344CB8AC3E}">
        <p14:creationId xmlns:p14="http://schemas.microsoft.com/office/powerpoint/2010/main" val="3977526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B568441F-78AF-4B28-979B-7ED60397323A}" type="datetimeFigureOut">
              <a:rPr lang="es-AR" smtClean="0"/>
              <a:t>5/5/2026</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B7AFD526-1BC8-43F0-8AD0-7DB9A113A82E}" type="slidenum">
              <a:rPr lang="es-AR" smtClean="0"/>
              <a:t>‹Nº›</a:t>
            </a:fld>
            <a:endParaRPr lang="es-AR"/>
          </a:p>
        </p:txBody>
      </p:sp>
    </p:spTree>
    <p:extLst>
      <p:ext uri="{BB962C8B-B14F-4D97-AF65-F5344CB8AC3E}">
        <p14:creationId xmlns:p14="http://schemas.microsoft.com/office/powerpoint/2010/main" val="2352866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fld id="{B568441F-78AF-4B28-979B-7ED60397323A}" type="datetimeFigureOut">
              <a:rPr lang="es-AR" smtClean="0"/>
              <a:t>5/5/2026</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B7AFD526-1BC8-43F0-8AD0-7DB9A113A82E}" type="slidenum">
              <a:rPr lang="es-AR" smtClean="0"/>
              <a:t>‹Nº›</a:t>
            </a:fld>
            <a:endParaRPr lang="es-AR"/>
          </a:p>
        </p:txBody>
      </p:sp>
    </p:spTree>
    <p:extLst>
      <p:ext uri="{BB962C8B-B14F-4D97-AF65-F5344CB8AC3E}">
        <p14:creationId xmlns:p14="http://schemas.microsoft.com/office/powerpoint/2010/main" val="218982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fld id="{B568441F-78AF-4B28-979B-7ED60397323A}" type="datetimeFigureOut">
              <a:rPr lang="es-AR" smtClean="0"/>
              <a:t>5/5/2026</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B7AFD526-1BC8-43F0-8AD0-7DB9A113A82E}" type="slidenum">
              <a:rPr lang="es-AR" smtClean="0"/>
              <a:t>‹Nº›</a:t>
            </a:fld>
            <a:endParaRPr lang="es-AR"/>
          </a:p>
        </p:txBody>
      </p:sp>
    </p:spTree>
    <p:extLst>
      <p:ext uri="{BB962C8B-B14F-4D97-AF65-F5344CB8AC3E}">
        <p14:creationId xmlns:p14="http://schemas.microsoft.com/office/powerpoint/2010/main" val="743194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fld id="{B568441F-78AF-4B28-979B-7ED60397323A}" type="datetimeFigureOut">
              <a:rPr lang="es-AR" smtClean="0"/>
              <a:t>5/5/2026</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B7AFD526-1BC8-43F0-8AD0-7DB9A113A82E}" type="slidenum">
              <a:rPr lang="es-AR" smtClean="0"/>
              <a:t>‹Nº›</a:t>
            </a:fld>
            <a:endParaRPr lang="es-AR"/>
          </a:p>
        </p:txBody>
      </p:sp>
    </p:spTree>
    <p:extLst>
      <p:ext uri="{BB962C8B-B14F-4D97-AF65-F5344CB8AC3E}">
        <p14:creationId xmlns:p14="http://schemas.microsoft.com/office/powerpoint/2010/main" val="3970293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B568441F-78AF-4B28-979B-7ED60397323A}" type="datetimeFigureOut">
              <a:rPr lang="es-AR" smtClean="0"/>
              <a:t>5/5/2026</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B7AFD526-1BC8-43F0-8AD0-7DB9A113A82E}" type="slidenum">
              <a:rPr lang="es-AR" smtClean="0"/>
              <a:t>‹Nº›</a:t>
            </a:fld>
            <a:endParaRPr lang="es-AR"/>
          </a:p>
        </p:txBody>
      </p:sp>
    </p:spTree>
    <p:extLst>
      <p:ext uri="{BB962C8B-B14F-4D97-AF65-F5344CB8AC3E}">
        <p14:creationId xmlns:p14="http://schemas.microsoft.com/office/powerpoint/2010/main" val="361730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B568441F-78AF-4B28-979B-7ED60397323A}" type="datetimeFigureOut">
              <a:rPr lang="es-AR" smtClean="0"/>
              <a:t>5/5/2026</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B7AFD526-1BC8-43F0-8AD0-7DB9A113A82E}" type="slidenum">
              <a:rPr lang="es-AR" smtClean="0"/>
              <a:t>‹Nº›</a:t>
            </a:fld>
            <a:endParaRPr lang="es-AR"/>
          </a:p>
        </p:txBody>
      </p:sp>
    </p:spTree>
    <p:extLst>
      <p:ext uri="{BB962C8B-B14F-4D97-AF65-F5344CB8AC3E}">
        <p14:creationId xmlns:p14="http://schemas.microsoft.com/office/powerpoint/2010/main" val="95408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B568441F-78AF-4B28-979B-7ED60397323A}" type="datetimeFigureOut">
              <a:rPr lang="es-AR" smtClean="0"/>
              <a:t>5/5/2026</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B7AFD526-1BC8-43F0-8AD0-7DB9A113A82E}" type="slidenum">
              <a:rPr lang="es-AR" smtClean="0"/>
              <a:t>‹Nº›</a:t>
            </a:fld>
            <a:endParaRPr lang="es-AR"/>
          </a:p>
        </p:txBody>
      </p:sp>
    </p:spTree>
    <p:extLst>
      <p:ext uri="{BB962C8B-B14F-4D97-AF65-F5344CB8AC3E}">
        <p14:creationId xmlns:p14="http://schemas.microsoft.com/office/powerpoint/2010/main" val="1412503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B568441F-78AF-4B28-979B-7ED60397323A}" type="datetimeFigureOut">
              <a:rPr lang="es-AR" smtClean="0"/>
              <a:t>5/5/2026</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B7AFD526-1BC8-43F0-8AD0-7DB9A113A82E}" type="slidenum">
              <a:rPr lang="es-AR" smtClean="0"/>
              <a:t>‹Nº›</a:t>
            </a:fld>
            <a:endParaRPr lang="es-AR"/>
          </a:p>
        </p:txBody>
      </p:sp>
    </p:spTree>
    <p:extLst>
      <p:ext uri="{BB962C8B-B14F-4D97-AF65-F5344CB8AC3E}">
        <p14:creationId xmlns:p14="http://schemas.microsoft.com/office/powerpoint/2010/main" val="937066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B568441F-78AF-4B28-979B-7ED60397323A}" type="datetimeFigureOut">
              <a:rPr lang="es-AR" smtClean="0"/>
              <a:t>5/5/2026</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B7AFD526-1BC8-43F0-8AD0-7DB9A113A82E}" type="slidenum">
              <a:rPr lang="es-AR" smtClean="0"/>
              <a:t>‹Nº›</a:t>
            </a:fld>
            <a:endParaRPr lang="es-AR"/>
          </a:p>
        </p:txBody>
      </p:sp>
    </p:spTree>
    <p:extLst>
      <p:ext uri="{BB962C8B-B14F-4D97-AF65-F5344CB8AC3E}">
        <p14:creationId xmlns:p14="http://schemas.microsoft.com/office/powerpoint/2010/main" val="318057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68441F-78AF-4B28-979B-7ED60397323A}" type="datetimeFigureOut">
              <a:rPr lang="es-AR" smtClean="0"/>
              <a:t>5/5/2026</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AFD526-1BC8-43F0-8AD0-7DB9A113A82E}" type="slidenum">
              <a:rPr lang="es-AR" smtClean="0"/>
              <a:t>‹Nº›</a:t>
            </a:fld>
            <a:endParaRPr lang="es-AR"/>
          </a:p>
        </p:txBody>
      </p:sp>
    </p:spTree>
    <p:extLst>
      <p:ext uri="{BB962C8B-B14F-4D97-AF65-F5344CB8AC3E}">
        <p14:creationId xmlns:p14="http://schemas.microsoft.com/office/powerpoint/2010/main" val="3482947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chatgpt.com/backend-api/estuary/content?id=file_000000004cf0720aaae2501569e0d7f3&amp;ts=492235&amp;p=fs&amp;cid=1&amp;sig=2787d93c6320e7206b90c4a2e57cd350da5eff4fc8620a1ef1b7b1a25098aec4&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a:p>
        </p:txBody>
      </p:sp>
      <p:pic>
        <p:nvPicPr>
          <p:cNvPr id="7" name="6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44000" cy="6858000"/>
          </a:xfrm>
          <a:prstGeom prst="rect">
            <a:avLst/>
          </a:prstGeom>
        </p:spPr>
      </p:pic>
      <p:sp>
        <p:nvSpPr>
          <p:cNvPr id="8" name="7 CuadroTexto"/>
          <p:cNvSpPr txBox="1"/>
          <p:nvPr/>
        </p:nvSpPr>
        <p:spPr>
          <a:xfrm>
            <a:off x="0" y="6517159"/>
            <a:ext cx="4518248" cy="307777"/>
          </a:xfrm>
          <a:prstGeom prst="rect">
            <a:avLst/>
          </a:prstGeom>
          <a:noFill/>
        </p:spPr>
        <p:txBody>
          <a:bodyPr wrap="square" rtlCol="0">
            <a:spAutoFit/>
          </a:bodyPr>
          <a:lstStyle/>
          <a:p>
            <a:r>
              <a:rPr lang="es-AR" sz="1400" dirty="0" smtClean="0">
                <a:solidFill>
                  <a:schemeClr val="bg1">
                    <a:lumMod val="65000"/>
                  </a:schemeClr>
                </a:solidFill>
              </a:rPr>
              <a:t>Elaborado por: Acosta </a:t>
            </a:r>
            <a:r>
              <a:rPr lang="es-AR" sz="1400" dirty="0" smtClean="0">
                <a:solidFill>
                  <a:schemeClr val="bg1">
                    <a:lumMod val="65000"/>
                  </a:schemeClr>
                </a:solidFill>
              </a:rPr>
              <a:t>Génesis</a:t>
            </a:r>
            <a:endParaRPr lang="es-AR" sz="1400" dirty="0">
              <a:solidFill>
                <a:schemeClr val="bg1">
                  <a:lumMod val="65000"/>
                </a:schemeClr>
              </a:solidFill>
            </a:endParaRPr>
          </a:p>
        </p:txBody>
      </p:sp>
    </p:spTree>
    <p:extLst>
      <p:ext uri="{BB962C8B-B14F-4D97-AF65-F5344CB8AC3E}">
        <p14:creationId xmlns:p14="http://schemas.microsoft.com/office/powerpoint/2010/main" val="21886428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rotWithShape="1">
          <a:blip r:embed="rId2">
            <a:extLst>
              <a:ext uri="{28A0092B-C50C-407E-A947-70E740481C1C}">
                <a14:useLocalDpi xmlns:a14="http://schemas.microsoft.com/office/drawing/2010/main" val="0"/>
              </a:ext>
            </a:extLst>
          </a:blip>
          <a:srcRect b="10036"/>
          <a:stretch/>
        </p:blipFill>
        <p:spPr>
          <a:xfrm>
            <a:off x="0" y="0"/>
            <a:ext cx="9144000" cy="6957392"/>
          </a:xfrm>
          <a:prstGeom prst="rect">
            <a:avLst/>
          </a:prstGeom>
        </p:spPr>
      </p:pic>
      <p:sp>
        <p:nvSpPr>
          <p:cNvPr id="5" name="4 Rectángulo redondeado"/>
          <p:cNvSpPr/>
          <p:nvPr/>
        </p:nvSpPr>
        <p:spPr>
          <a:xfrm>
            <a:off x="611560" y="1905768"/>
            <a:ext cx="2232248" cy="4608512"/>
          </a:xfrm>
          <a:prstGeom prst="round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es-AR"/>
          </a:p>
        </p:txBody>
      </p:sp>
      <p:sp>
        <p:nvSpPr>
          <p:cNvPr id="13" name="12 Rectángulo redondeado"/>
          <p:cNvSpPr/>
          <p:nvPr/>
        </p:nvSpPr>
        <p:spPr>
          <a:xfrm>
            <a:off x="3635896" y="1909505"/>
            <a:ext cx="2232248" cy="4608512"/>
          </a:xfrm>
          <a:prstGeom prst="round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es-AR"/>
          </a:p>
        </p:txBody>
      </p:sp>
      <p:sp>
        <p:nvSpPr>
          <p:cNvPr id="14" name="13 Rectángulo redondeado"/>
          <p:cNvSpPr/>
          <p:nvPr/>
        </p:nvSpPr>
        <p:spPr>
          <a:xfrm>
            <a:off x="6588224" y="1905768"/>
            <a:ext cx="2232248" cy="4608512"/>
          </a:xfrm>
          <a:prstGeom prst="round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es-AR"/>
          </a:p>
        </p:txBody>
      </p:sp>
      <p:sp>
        <p:nvSpPr>
          <p:cNvPr id="15" name="AutoShape 2" descr="https://lh3.googleusercontent.com/gg-dl/AOI_d_-SaB8cYMGJ-l8sXHcB1F4CyRgnpANoxe--0gkAvqPUD4sK7Lpa_Pwfw6zsU8g0NCqDePiIBfPRSC4kD-9ii9KEOTF3jn9ScMPc-SFPb6PYHspKrtxblg_6BgniVbANKNhmSN1cpFn_pjLYA8MjV-RWjp58OonUSY16pgz-72ediMQFjw=s1024-rj"/>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a:p>
        </p:txBody>
      </p:sp>
      <p:sp>
        <p:nvSpPr>
          <p:cNvPr id="23" name="22 Rectángulo"/>
          <p:cNvSpPr/>
          <p:nvPr/>
        </p:nvSpPr>
        <p:spPr>
          <a:xfrm>
            <a:off x="1279125" y="3785463"/>
            <a:ext cx="890179" cy="400110"/>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a:r>
              <a:rPr lang="es-ES" sz="2000" b="1" dirty="0" smtClean="0">
                <a:ln w="50800"/>
                <a:solidFill>
                  <a:schemeClr val="bg1">
                    <a:shade val="50000"/>
                  </a:schemeClr>
                </a:solidFill>
              </a:rPr>
              <a:t>SALUD</a:t>
            </a:r>
            <a:endParaRPr lang="es-ES" sz="2000" b="1" dirty="0">
              <a:ln w="50800"/>
              <a:solidFill>
                <a:schemeClr val="bg1">
                  <a:shade val="50000"/>
                </a:schemeClr>
              </a:solidFill>
            </a:endParaRPr>
          </a:p>
        </p:txBody>
      </p:sp>
      <p:sp>
        <p:nvSpPr>
          <p:cNvPr id="24" name="23 CuadroTexto"/>
          <p:cNvSpPr txBox="1"/>
          <p:nvPr/>
        </p:nvSpPr>
        <p:spPr>
          <a:xfrm>
            <a:off x="707839" y="4375342"/>
            <a:ext cx="2039689" cy="323165"/>
          </a:xfrm>
          <a:prstGeom prst="rect">
            <a:avLst/>
          </a:prstGeom>
          <a:noFill/>
        </p:spPr>
        <p:txBody>
          <a:bodyPr wrap="square" rtlCol="0">
            <a:spAutoFit/>
          </a:bodyPr>
          <a:lstStyle/>
          <a:p>
            <a:pPr algn="ctr"/>
            <a:r>
              <a:rPr lang="es-AR" sz="1500" dirty="0" smtClean="0">
                <a:solidFill>
                  <a:schemeClr val="bg1"/>
                </a:solidFill>
              </a:rPr>
              <a:t>¿Quiénes viven menos?</a:t>
            </a:r>
            <a:endParaRPr lang="es-AR" sz="1500" dirty="0">
              <a:solidFill>
                <a:schemeClr val="bg1"/>
              </a:solidFill>
            </a:endParaRPr>
          </a:p>
        </p:txBody>
      </p:sp>
      <p:sp>
        <p:nvSpPr>
          <p:cNvPr id="26" name="25 Rectángulo"/>
          <p:cNvSpPr/>
          <p:nvPr/>
        </p:nvSpPr>
        <p:spPr>
          <a:xfrm>
            <a:off x="695521" y="4849200"/>
            <a:ext cx="2039689" cy="784830"/>
          </a:xfrm>
          <a:prstGeom prst="rect">
            <a:avLst/>
          </a:prstGeom>
        </p:spPr>
        <p:txBody>
          <a:bodyPr wrap="square">
            <a:spAutoFit/>
          </a:bodyPr>
          <a:lstStyle/>
          <a:p>
            <a:pPr algn="ctr"/>
            <a:r>
              <a:rPr lang="es-AR" sz="1500" dirty="0" smtClean="0">
                <a:solidFill>
                  <a:schemeClr val="bg1"/>
                </a:solidFill>
              </a:rPr>
              <a:t>Países que se quedan atrás en esperanza de vida.</a:t>
            </a:r>
            <a:endParaRPr lang="es-AR" sz="1500" dirty="0">
              <a:solidFill>
                <a:schemeClr val="bg1"/>
              </a:solidFill>
            </a:endParaRPr>
          </a:p>
        </p:txBody>
      </p:sp>
      <p:pic>
        <p:nvPicPr>
          <p:cNvPr id="27" name="26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9982" y="2132234"/>
            <a:ext cx="1864075" cy="168635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8" name="27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6870" y="2081597"/>
            <a:ext cx="1691422" cy="1686355"/>
          </a:xfrm>
          <a:prstGeom prst="rect">
            <a:avLst/>
          </a:prstGeom>
        </p:spPr>
      </p:pic>
      <p:pic>
        <p:nvPicPr>
          <p:cNvPr id="29" name="28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24363" y="2132233"/>
            <a:ext cx="1785249" cy="171284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0" name="29 CuadroTexto"/>
          <p:cNvSpPr txBox="1"/>
          <p:nvPr/>
        </p:nvSpPr>
        <p:spPr>
          <a:xfrm>
            <a:off x="4139952" y="3845079"/>
            <a:ext cx="1476164" cy="369332"/>
          </a:xfrm>
          <a:prstGeom prst="rect">
            <a:avLst/>
          </a:prstGeom>
          <a:noFill/>
        </p:spPr>
        <p:txBody>
          <a:bodyPr wrap="square" rtlCol="0">
            <a:spAutoFit/>
          </a:bodyPr>
          <a:lstStyle/>
          <a:p>
            <a:r>
              <a:rPr lang="es-AR" b="1" dirty="0" smtClean="0">
                <a:solidFill>
                  <a:schemeClr val="bg1"/>
                </a:solidFill>
              </a:rPr>
              <a:t>CIUDADES</a:t>
            </a:r>
            <a:endParaRPr lang="es-AR" b="1" dirty="0">
              <a:solidFill>
                <a:schemeClr val="bg1"/>
              </a:solidFill>
            </a:endParaRPr>
          </a:p>
        </p:txBody>
      </p:sp>
      <p:sp>
        <p:nvSpPr>
          <p:cNvPr id="31" name="30 CuadroTexto"/>
          <p:cNvSpPr txBox="1"/>
          <p:nvPr/>
        </p:nvSpPr>
        <p:spPr>
          <a:xfrm>
            <a:off x="3779912" y="4375343"/>
            <a:ext cx="1944216" cy="323165"/>
          </a:xfrm>
          <a:prstGeom prst="rect">
            <a:avLst/>
          </a:prstGeom>
          <a:noFill/>
        </p:spPr>
        <p:txBody>
          <a:bodyPr wrap="square" rtlCol="0">
            <a:spAutoFit/>
          </a:bodyPr>
          <a:lstStyle/>
          <a:p>
            <a:pPr algn="ctr"/>
            <a:r>
              <a:rPr lang="es-AR" sz="1500" dirty="0" smtClean="0">
                <a:solidFill>
                  <a:schemeClr val="bg1"/>
                </a:solidFill>
              </a:rPr>
              <a:t>¿Ciudades al límite?</a:t>
            </a:r>
            <a:endParaRPr lang="es-AR" sz="1500" dirty="0">
              <a:solidFill>
                <a:schemeClr val="bg1"/>
              </a:solidFill>
            </a:endParaRPr>
          </a:p>
        </p:txBody>
      </p:sp>
      <p:sp>
        <p:nvSpPr>
          <p:cNvPr id="32" name="31 CuadroTexto"/>
          <p:cNvSpPr txBox="1"/>
          <p:nvPr/>
        </p:nvSpPr>
        <p:spPr>
          <a:xfrm>
            <a:off x="3707903" y="4851202"/>
            <a:ext cx="2088232" cy="784830"/>
          </a:xfrm>
          <a:prstGeom prst="rect">
            <a:avLst/>
          </a:prstGeom>
          <a:noFill/>
        </p:spPr>
        <p:txBody>
          <a:bodyPr wrap="square" rtlCol="0">
            <a:spAutoFit/>
          </a:bodyPr>
          <a:lstStyle/>
          <a:p>
            <a:pPr algn="ctr"/>
            <a:r>
              <a:rPr lang="es-AR" sz="1500" dirty="0" smtClean="0">
                <a:solidFill>
                  <a:schemeClr val="bg1"/>
                </a:solidFill>
              </a:rPr>
              <a:t>Países que dependen de una sola ciudad (Riesgo de colapso).</a:t>
            </a:r>
            <a:endParaRPr lang="es-AR" sz="1500" dirty="0">
              <a:solidFill>
                <a:schemeClr val="bg1"/>
              </a:solidFill>
            </a:endParaRPr>
          </a:p>
        </p:txBody>
      </p:sp>
      <p:sp>
        <p:nvSpPr>
          <p:cNvPr id="33" name="32 CuadroTexto"/>
          <p:cNvSpPr txBox="1"/>
          <p:nvPr/>
        </p:nvSpPr>
        <p:spPr>
          <a:xfrm>
            <a:off x="7034324" y="3849089"/>
            <a:ext cx="1440160" cy="369332"/>
          </a:xfrm>
          <a:prstGeom prst="rect">
            <a:avLst/>
          </a:prstGeom>
          <a:noFill/>
        </p:spPr>
        <p:txBody>
          <a:bodyPr wrap="square" rtlCol="0">
            <a:spAutoFit/>
          </a:bodyPr>
          <a:lstStyle/>
          <a:p>
            <a:r>
              <a:rPr lang="es-AR" b="1" dirty="0" smtClean="0">
                <a:solidFill>
                  <a:schemeClr val="bg1"/>
                </a:solidFill>
              </a:rPr>
              <a:t>INCLUSIÓN</a:t>
            </a:r>
            <a:endParaRPr lang="es-AR" b="1" dirty="0">
              <a:solidFill>
                <a:schemeClr val="bg1"/>
              </a:solidFill>
            </a:endParaRPr>
          </a:p>
        </p:txBody>
      </p:sp>
      <p:sp>
        <p:nvSpPr>
          <p:cNvPr id="34" name="33 CuadroTexto"/>
          <p:cNvSpPr txBox="1"/>
          <p:nvPr/>
        </p:nvSpPr>
        <p:spPr>
          <a:xfrm>
            <a:off x="6638280" y="4412070"/>
            <a:ext cx="2232248" cy="323165"/>
          </a:xfrm>
          <a:prstGeom prst="rect">
            <a:avLst/>
          </a:prstGeom>
          <a:noFill/>
        </p:spPr>
        <p:txBody>
          <a:bodyPr wrap="square" rtlCol="0">
            <a:spAutoFit/>
          </a:bodyPr>
          <a:lstStyle/>
          <a:p>
            <a:r>
              <a:rPr lang="es-AR" sz="1500" dirty="0" smtClean="0">
                <a:solidFill>
                  <a:schemeClr val="bg1"/>
                </a:solidFill>
              </a:rPr>
              <a:t>¿A quién no entendemos?</a:t>
            </a:r>
            <a:endParaRPr lang="es-AR" sz="1500" dirty="0">
              <a:solidFill>
                <a:schemeClr val="bg1"/>
              </a:solidFill>
            </a:endParaRPr>
          </a:p>
        </p:txBody>
      </p:sp>
      <p:sp>
        <p:nvSpPr>
          <p:cNvPr id="35" name="34 CuadroTexto"/>
          <p:cNvSpPr txBox="1"/>
          <p:nvPr/>
        </p:nvSpPr>
        <p:spPr>
          <a:xfrm>
            <a:off x="6661040" y="4871918"/>
            <a:ext cx="2110184" cy="1477328"/>
          </a:xfrm>
          <a:prstGeom prst="rect">
            <a:avLst/>
          </a:prstGeom>
          <a:noFill/>
        </p:spPr>
        <p:txBody>
          <a:bodyPr wrap="square" rtlCol="0">
            <a:spAutoFit/>
          </a:bodyPr>
          <a:lstStyle/>
          <a:p>
            <a:pPr algn="ctr"/>
            <a:r>
              <a:rPr lang="es-AR" sz="1500" dirty="0" smtClean="0">
                <a:solidFill>
                  <a:schemeClr val="bg1"/>
                </a:solidFill>
              </a:rPr>
              <a:t>Países con tantos idiomas que la ayuda no llega a todos. No pueden entender las campañas de vacunación o trámites urbanos.</a:t>
            </a:r>
            <a:endParaRPr lang="es-AR" sz="1500" dirty="0">
              <a:solidFill>
                <a:schemeClr val="bg1"/>
              </a:solidFill>
            </a:endParaRPr>
          </a:p>
        </p:txBody>
      </p:sp>
      <p:sp>
        <p:nvSpPr>
          <p:cNvPr id="36" name="35 Rectángulo"/>
          <p:cNvSpPr/>
          <p:nvPr/>
        </p:nvSpPr>
        <p:spPr>
          <a:xfrm>
            <a:off x="648396" y="836712"/>
            <a:ext cx="8160632" cy="707886"/>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s-AR" sz="4000" b="1" spc="150" dirty="0" smtClean="0">
                <a:ln w="11430"/>
                <a:solidFill>
                  <a:srgbClr val="F8F8F8"/>
                </a:solidFill>
                <a:effectLst>
                  <a:outerShdw blurRad="25400" algn="tl" rotWithShape="0">
                    <a:srgbClr val="000000">
                      <a:alpha val="43000"/>
                    </a:srgbClr>
                  </a:outerShdw>
                </a:effectLst>
              </a:rPr>
              <a:t>Identificación de Variables Críticas</a:t>
            </a:r>
            <a:endParaRPr lang="es-ES" sz="4000" b="1" spc="150" dirty="0">
              <a:ln w="11430"/>
              <a:solidFill>
                <a:srgbClr val="F8F8F8"/>
              </a:solidFill>
              <a:effectLst>
                <a:outerShdw blurRad="25400" algn="tl" rotWithShape="0">
                  <a:srgbClr val="000000">
                    <a:alpha val="43000"/>
                  </a:srgbClr>
                </a:outerShdw>
              </a:effectLst>
            </a:endParaRPr>
          </a:p>
        </p:txBody>
      </p:sp>
    </p:spTree>
    <p:extLst>
      <p:ext uri="{BB962C8B-B14F-4D97-AF65-F5344CB8AC3E}">
        <p14:creationId xmlns:p14="http://schemas.microsoft.com/office/powerpoint/2010/main" val="36983041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rotWithShape="1">
          <a:blip r:embed="rId2">
            <a:extLst>
              <a:ext uri="{28A0092B-C50C-407E-A947-70E740481C1C}">
                <a14:useLocalDpi xmlns:a14="http://schemas.microsoft.com/office/drawing/2010/main" val="0"/>
              </a:ext>
            </a:extLst>
          </a:blip>
          <a:srcRect b="10036"/>
          <a:stretch/>
        </p:blipFill>
        <p:spPr>
          <a:xfrm>
            <a:off x="0" y="0"/>
            <a:ext cx="9144000" cy="6957392"/>
          </a:xfrm>
          <a:prstGeom prst="rect">
            <a:avLst/>
          </a:prstGeom>
        </p:spPr>
      </p:pic>
      <p:sp>
        <p:nvSpPr>
          <p:cNvPr id="2" name="1 Rectángulo"/>
          <p:cNvSpPr/>
          <p:nvPr/>
        </p:nvSpPr>
        <p:spPr>
          <a:xfrm>
            <a:off x="1511597" y="332656"/>
            <a:ext cx="5886356" cy="707886"/>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s-AR" sz="3600" b="1" spc="150" dirty="0" smtClean="0">
                <a:ln w="11430"/>
                <a:solidFill>
                  <a:srgbClr val="F8F8F8"/>
                </a:solidFill>
                <a:effectLst>
                  <a:outerShdw blurRad="25400" algn="tl" rotWithShape="0">
                    <a:srgbClr val="000000">
                      <a:alpha val="43000"/>
                    </a:srgbClr>
                  </a:outerShdw>
                </a:effectLst>
              </a:rPr>
              <a:t>Salud - </a:t>
            </a:r>
            <a:r>
              <a:rPr lang="es-AR" sz="4000" b="1" spc="150" dirty="0" smtClean="0">
                <a:ln w="11430"/>
                <a:solidFill>
                  <a:srgbClr val="F8F8F8"/>
                </a:solidFill>
                <a:effectLst>
                  <a:outerShdw blurRad="25400" algn="tl" rotWithShape="0">
                    <a:srgbClr val="000000">
                      <a:alpha val="43000"/>
                    </a:srgbClr>
                  </a:outerShdw>
                </a:effectLst>
              </a:rPr>
              <a:t>Esperanza</a:t>
            </a:r>
            <a:r>
              <a:rPr lang="es-AR" sz="3600" b="1" spc="150" dirty="0" smtClean="0">
                <a:ln w="11430"/>
                <a:solidFill>
                  <a:srgbClr val="F8F8F8"/>
                </a:solidFill>
                <a:effectLst>
                  <a:outerShdw blurRad="25400" algn="tl" rotWithShape="0">
                    <a:srgbClr val="000000">
                      <a:alpha val="43000"/>
                    </a:srgbClr>
                  </a:outerShdw>
                </a:effectLst>
              </a:rPr>
              <a:t> de Vida </a:t>
            </a:r>
            <a:endParaRPr lang="es-ES" sz="3600" b="1" spc="150" dirty="0">
              <a:ln w="11430"/>
              <a:solidFill>
                <a:srgbClr val="F8F8F8"/>
              </a:solidFill>
              <a:effectLst>
                <a:outerShdw blurRad="25400" algn="tl" rotWithShape="0">
                  <a:srgbClr val="000000">
                    <a:alpha val="43000"/>
                  </a:srgbClr>
                </a:outerShdw>
              </a:effectLst>
            </a:endParaRPr>
          </a:p>
        </p:txBody>
      </p:sp>
      <p:sp>
        <p:nvSpPr>
          <p:cNvPr id="5" name="4 CuadroTexto"/>
          <p:cNvSpPr txBox="1"/>
          <p:nvPr/>
        </p:nvSpPr>
        <p:spPr>
          <a:xfrm>
            <a:off x="1156295" y="1150005"/>
            <a:ext cx="6831409" cy="338554"/>
          </a:xfrm>
          <a:prstGeom prst="rect">
            <a:avLst/>
          </a:prstGeom>
          <a:noFill/>
        </p:spPr>
        <p:txBody>
          <a:bodyPr wrap="square" rtlCol="0">
            <a:spAutoFit/>
          </a:bodyPr>
          <a:lstStyle/>
          <a:p>
            <a:pPr algn="ctr"/>
            <a:r>
              <a:rPr lang="es-AR" sz="1600" dirty="0" smtClean="0">
                <a:solidFill>
                  <a:schemeClr val="bg1"/>
                </a:solidFill>
              </a:rPr>
              <a:t> </a:t>
            </a:r>
            <a:r>
              <a:rPr lang="es-AR" sz="1600" dirty="0">
                <a:solidFill>
                  <a:schemeClr val="bg1"/>
                </a:solidFill>
              </a:rPr>
              <a:t> </a:t>
            </a:r>
            <a:r>
              <a:rPr lang="es-AR" sz="1600" dirty="0" smtClean="0">
                <a:solidFill>
                  <a:schemeClr val="bg1"/>
                </a:solidFill>
              </a:rPr>
              <a:t>Países </a:t>
            </a:r>
            <a:r>
              <a:rPr lang="es-AR" sz="1600" dirty="0">
                <a:solidFill>
                  <a:schemeClr val="bg1"/>
                </a:solidFill>
              </a:rPr>
              <a:t>que han logrado la meta del ODS </a:t>
            </a:r>
            <a:r>
              <a:rPr lang="es-AR" sz="1600" dirty="0" smtClean="0">
                <a:solidFill>
                  <a:schemeClr val="bg1"/>
                </a:solidFill>
              </a:rPr>
              <a:t>3 con la esperanza de vida &gt; 75 años</a:t>
            </a:r>
            <a:endParaRPr lang="es-AR" sz="1600" dirty="0">
              <a:solidFill>
                <a:schemeClr val="bg1"/>
              </a:solidFill>
            </a:endParaRPr>
          </a:p>
        </p:txBody>
      </p:sp>
      <p:pic>
        <p:nvPicPr>
          <p:cNvPr id="8" name="7 Imagen"/>
          <p:cNvPicPr>
            <a:picLocks noChangeAspect="1"/>
          </p:cNvPicPr>
          <p:nvPr/>
        </p:nvPicPr>
        <p:blipFill rotWithShape="1">
          <a:blip r:embed="rId3">
            <a:extLst>
              <a:ext uri="{28A0092B-C50C-407E-A947-70E740481C1C}">
                <a14:useLocalDpi xmlns:a14="http://schemas.microsoft.com/office/drawing/2010/main" val="0"/>
              </a:ext>
            </a:extLst>
          </a:blip>
          <a:srcRect t="2093" r="1241"/>
          <a:stretch/>
        </p:blipFill>
        <p:spPr>
          <a:xfrm>
            <a:off x="460498" y="1628800"/>
            <a:ext cx="8275426" cy="4354817"/>
          </a:xfrm>
          <a:prstGeom prst="rect">
            <a:avLst/>
          </a:prstGeom>
        </p:spPr>
      </p:pic>
      <p:pic>
        <p:nvPicPr>
          <p:cNvPr id="7" name="6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3564" y="2058862"/>
            <a:ext cx="2886478" cy="1733792"/>
          </a:xfrm>
          <a:prstGeom prst="rect">
            <a:avLst/>
          </a:prstGeom>
        </p:spPr>
      </p:pic>
    </p:spTree>
    <p:extLst>
      <p:ext uri="{BB962C8B-B14F-4D97-AF65-F5344CB8AC3E}">
        <p14:creationId xmlns:p14="http://schemas.microsoft.com/office/powerpoint/2010/main" val="30907202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rotWithShape="1">
          <a:blip r:embed="rId2">
            <a:extLst>
              <a:ext uri="{28A0092B-C50C-407E-A947-70E740481C1C}">
                <a14:useLocalDpi xmlns:a14="http://schemas.microsoft.com/office/drawing/2010/main" val="0"/>
              </a:ext>
            </a:extLst>
          </a:blip>
          <a:srcRect b="10036"/>
          <a:stretch/>
        </p:blipFill>
        <p:spPr>
          <a:xfrm>
            <a:off x="0" y="0"/>
            <a:ext cx="9144000" cy="6957392"/>
          </a:xfrm>
          <a:prstGeom prst="rect">
            <a:avLst/>
          </a:prstGeom>
        </p:spPr>
      </p:pic>
      <p:sp>
        <p:nvSpPr>
          <p:cNvPr id="7" name="6 CuadroTexto"/>
          <p:cNvSpPr txBox="1"/>
          <p:nvPr/>
        </p:nvSpPr>
        <p:spPr>
          <a:xfrm>
            <a:off x="755575" y="4941168"/>
            <a:ext cx="7960912" cy="830997"/>
          </a:xfrm>
          <a:prstGeom prst="rect">
            <a:avLst/>
          </a:prstGeom>
          <a:noFill/>
        </p:spPr>
        <p:txBody>
          <a:bodyPr wrap="square" rtlCol="0">
            <a:spAutoFit/>
          </a:bodyPr>
          <a:lstStyle/>
          <a:p>
            <a:pPr algn="just"/>
            <a:r>
              <a:rPr lang="es-AR" sz="1600" dirty="0">
                <a:solidFill>
                  <a:schemeClr val="bg1"/>
                </a:solidFill>
              </a:rPr>
              <a:t>Existe una brecha crítica de supervivencia. Mientras muchos países superan los 75 años, la distribución muestra un grupo significativo de naciones estancadas en niveles bajos, lo que indica desigualdad en el acceso a servicios básicos de salud.</a:t>
            </a:r>
          </a:p>
        </p:txBody>
      </p:sp>
      <p:sp>
        <p:nvSpPr>
          <p:cNvPr id="8" name="7 Rectángulo"/>
          <p:cNvSpPr/>
          <p:nvPr/>
        </p:nvSpPr>
        <p:spPr>
          <a:xfrm>
            <a:off x="237964" y="476672"/>
            <a:ext cx="9044079" cy="707886"/>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s-AR" sz="3600" b="1" spc="150" dirty="0">
                <a:ln w="11430"/>
                <a:solidFill>
                  <a:srgbClr val="F8F8F8"/>
                </a:solidFill>
                <a:effectLst>
                  <a:outerShdw blurRad="25400" algn="tl" rotWithShape="0">
                    <a:srgbClr val="000000">
                      <a:alpha val="43000"/>
                    </a:srgbClr>
                  </a:outerShdw>
                </a:effectLst>
              </a:rPr>
              <a:t>Brechas de </a:t>
            </a:r>
            <a:r>
              <a:rPr lang="es-AR" sz="4000" b="1" spc="150" dirty="0">
                <a:ln w="11430"/>
                <a:solidFill>
                  <a:srgbClr val="F8F8F8"/>
                </a:solidFill>
                <a:effectLst>
                  <a:outerShdw blurRad="25400" algn="tl" rotWithShape="0">
                    <a:srgbClr val="000000">
                      <a:alpha val="43000"/>
                    </a:srgbClr>
                  </a:outerShdw>
                </a:effectLst>
              </a:rPr>
              <a:t>Desigualdad</a:t>
            </a:r>
            <a:r>
              <a:rPr lang="es-AR" sz="3600" b="1" spc="150" dirty="0">
                <a:ln w="11430"/>
                <a:solidFill>
                  <a:srgbClr val="F8F8F8"/>
                </a:solidFill>
                <a:effectLst>
                  <a:outerShdw blurRad="25400" algn="tl" rotWithShape="0">
                    <a:srgbClr val="000000">
                      <a:alpha val="43000"/>
                    </a:srgbClr>
                  </a:outerShdw>
                </a:effectLst>
              </a:rPr>
              <a:t> en </a:t>
            </a:r>
            <a:r>
              <a:rPr lang="es-AR" sz="3600" b="1" spc="150" dirty="0" smtClean="0">
                <a:ln w="11430"/>
                <a:solidFill>
                  <a:srgbClr val="F8F8F8"/>
                </a:solidFill>
                <a:effectLst>
                  <a:outerShdw blurRad="25400" algn="tl" rotWithShape="0">
                    <a:srgbClr val="000000">
                      <a:alpha val="43000"/>
                    </a:srgbClr>
                  </a:outerShdw>
                </a:effectLst>
              </a:rPr>
              <a:t>Salud(ODS </a:t>
            </a:r>
            <a:r>
              <a:rPr lang="es-AR" sz="3600" b="1" spc="150" dirty="0">
                <a:ln w="11430"/>
                <a:solidFill>
                  <a:srgbClr val="F8F8F8"/>
                </a:solidFill>
                <a:effectLst>
                  <a:outerShdw blurRad="25400" algn="tl" rotWithShape="0">
                    <a:srgbClr val="000000">
                      <a:alpha val="43000"/>
                    </a:srgbClr>
                  </a:outerShdw>
                </a:effectLst>
              </a:rPr>
              <a:t>3)</a:t>
            </a:r>
            <a:endParaRPr lang="es-ES" sz="3600" b="1" spc="150" dirty="0">
              <a:ln w="11430"/>
              <a:solidFill>
                <a:srgbClr val="F8F8F8"/>
              </a:solidFill>
              <a:effectLst>
                <a:outerShdw blurRad="25400" algn="tl" rotWithShape="0">
                  <a:srgbClr val="000000">
                    <a:alpha val="43000"/>
                  </a:srgbClr>
                </a:outerShdw>
              </a:effectLst>
            </a:endParaRPr>
          </a:p>
        </p:txBody>
      </p:sp>
      <p:sp>
        <p:nvSpPr>
          <p:cNvPr id="9" name="8 CuadroTexto"/>
          <p:cNvSpPr txBox="1"/>
          <p:nvPr/>
        </p:nvSpPr>
        <p:spPr>
          <a:xfrm>
            <a:off x="1299663" y="1484784"/>
            <a:ext cx="7416824" cy="338554"/>
          </a:xfrm>
          <a:prstGeom prst="rect">
            <a:avLst/>
          </a:prstGeom>
          <a:noFill/>
        </p:spPr>
        <p:txBody>
          <a:bodyPr wrap="square" rtlCol="0">
            <a:spAutoFit/>
          </a:bodyPr>
          <a:lstStyle/>
          <a:p>
            <a:r>
              <a:rPr lang="es-AR" sz="1600" dirty="0">
                <a:solidFill>
                  <a:schemeClr val="bg1"/>
                </a:solidFill>
              </a:rPr>
              <a:t>¿Qué regiones tienen una esperanza de vida inferior al promedio mundial?</a:t>
            </a:r>
          </a:p>
        </p:txBody>
      </p:sp>
      <p:graphicFrame>
        <p:nvGraphicFramePr>
          <p:cNvPr id="10" name="9 Tabla"/>
          <p:cNvGraphicFramePr>
            <a:graphicFrameLocks noGrp="1"/>
          </p:cNvGraphicFramePr>
          <p:nvPr>
            <p:extLst>
              <p:ext uri="{D42A27DB-BD31-4B8C-83A1-F6EECF244321}">
                <p14:modId xmlns:p14="http://schemas.microsoft.com/office/powerpoint/2010/main" val="2257194944"/>
              </p:ext>
            </p:extLst>
          </p:nvPr>
        </p:nvGraphicFramePr>
        <p:xfrm>
          <a:off x="1151619" y="2060848"/>
          <a:ext cx="6840762" cy="2595880"/>
        </p:xfrm>
        <a:graphic>
          <a:graphicData uri="http://schemas.openxmlformats.org/drawingml/2006/table">
            <a:tbl>
              <a:tblPr firstRow="1" bandRow="1">
                <a:tableStyleId>{5C22544A-7EE6-4342-B048-85BDC9FD1C3A}</a:tableStyleId>
              </a:tblPr>
              <a:tblGrid>
                <a:gridCol w="2280254"/>
                <a:gridCol w="2280254"/>
                <a:gridCol w="2280254"/>
              </a:tblGrid>
              <a:tr h="370840">
                <a:tc>
                  <a:txBody>
                    <a:bodyPr/>
                    <a:lstStyle/>
                    <a:p>
                      <a:pPr algn="ctr"/>
                      <a:r>
                        <a:rPr lang="es-AR" sz="1400" dirty="0" smtClean="0"/>
                        <a:t>CONTINENE</a:t>
                      </a:r>
                      <a:endParaRPr lang="es-AR" sz="1400" dirty="0"/>
                    </a:p>
                  </a:txBody>
                  <a:tcPr anchor="ctr"/>
                </a:tc>
                <a:tc>
                  <a:txBody>
                    <a:bodyPr/>
                    <a:lstStyle/>
                    <a:p>
                      <a:pPr algn="ctr"/>
                      <a:r>
                        <a:rPr lang="es-AR" sz="1400" dirty="0" smtClean="0"/>
                        <a:t>N°</a:t>
                      </a:r>
                      <a:r>
                        <a:rPr lang="es-AR" sz="1400" baseline="0" dirty="0" smtClean="0"/>
                        <a:t> PAISES AFECTADOS</a:t>
                      </a:r>
                      <a:endParaRPr lang="es-AR" sz="1400" dirty="0"/>
                    </a:p>
                  </a:txBody>
                  <a:tcPr anchor="ctr"/>
                </a:tc>
                <a:tc>
                  <a:txBody>
                    <a:bodyPr/>
                    <a:lstStyle/>
                    <a:p>
                      <a:pPr algn="ctr"/>
                      <a:r>
                        <a:rPr lang="es-AR" sz="1400" dirty="0" smtClean="0"/>
                        <a:t>ESPERANZA</a:t>
                      </a:r>
                      <a:r>
                        <a:rPr lang="es-AR" sz="1400" baseline="0" dirty="0" smtClean="0"/>
                        <a:t> MEDIA DE VIDA</a:t>
                      </a:r>
                      <a:endParaRPr lang="es-AR" sz="1400" dirty="0"/>
                    </a:p>
                  </a:txBody>
                  <a:tcPr anchor="ctr"/>
                </a:tc>
              </a:tr>
              <a:tr h="370840">
                <a:tc>
                  <a:txBody>
                    <a:bodyPr/>
                    <a:lstStyle/>
                    <a:p>
                      <a:pPr algn="ctr"/>
                      <a:r>
                        <a:rPr lang="es-AR" dirty="0" smtClean="0"/>
                        <a:t>África</a:t>
                      </a:r>
                      <a:endParaRPr lang="es-AR" dirty="0"/>
                    </a:p>
                  </a:txBody>
                  <a:tcPr anchor="ctr"/>
                </a:tc>
                <a:tc>
                  <a:txBody>
                    <a:bodyPr/>
                    <a:lstStyle/>
                    <a:p>
                      <a:pPr algn="ctr"/>
                      <a:r>
                        <a:rPr lang="es-AR" dirty="0" smtClean="0"/>
                        <a:t>48</a:t>
                      </a:r>
                      <a:endParaRPr lang="es-AR" dirty="0"/>
                    </a:p>
                  </a:txBody>
                  <a:tcPr anchor="ctr"/>
                </a:tc>
                <a:tc>
                  <a:txBody>
                    <a:bodyPr/>
                    <a:lstStyle/>
                    <a:p>
                      <a:pPr algn="ctr"/>
                      <a:r>
                        <a:rPr lang="es-AR" dirty="0" smtClean="0"/>
                        <a:t>48.93</a:t>
                      </a:r>
                      <a:endParaRPr lang="es-AR" dirty="0"/>
                    </a:p>
                  </a:txBody>
                  <a:tcPr anchor="ctr"/>
                </a:tc>
              </a:tr>
              <a:tr h="370840">
                <a:tc>
                  <a:txBody>
                    <a:bodyPr/>
                    <a:lstStyle/>
                    <a:p>
                      <a:pPr algn="ctr"/>
                      <a:r>
                        <a:rPr lang="es-AR" dirty="0" smtClean="0"/>
                        <a:t>Asia</a:t>
                      </a:r>
                      <a:endParaRPr lang="es-AR" dirty="0"/>
                    </a:p>
                  </a:txBody>
                  <a:tcPr anchor="ctr"/>
                </a:tc>
                <a:tc>
                  <a:txBody>
                    <a:bodyPr/>
                    <a:lstStyle/>
                    <a:p>
                      <a:pPr algn="ctr"/>
                      <a:r>
                        <a:rPr lang="es-AR" dirty="0" smtClean="0"/>
                        <a:t>20</a:t>
                      </a:r>
                      <a:endParaRPr lang="es-AR" dirty="0"/>
                    </a:p>
                  </a:txBody>
                  <a:tcPr anchor="ctr"/>
                </a:tc>
                <a:tc>
                  <a:txBody>
                    <a:bodyPr/>
                    <a:lstStyle/>
                    <a:p>
                      <a:pPr algn="ctr"/>
                      <a:r>
                        <a:rPr lang="es-AR" dirty="0" smtClean="0"/>
                        <a:t>59.08</a:t>
                      </a:r>
                      <a:endParaRPr lang="es-AR" dirty="0"/>
                    </a:p>
                  </a:txBody>
                  <a:tcPr anchor="ctr"/>
                </a:tc>
              </a:tr>
              <a:tr h="370840">
                <a:tc>
                  <a:txBody>
                    <a:bodyPr/>
                    <a:lstStyle/>
                    <a:p>
                      <a:pPr algn="ctr"/>
                      <a:r>
                        <a:rPr lang="es-AR" dirty="0" smtClean="0"/>
                        <a:t>Oceanía</a:t>
                      </a:r>
                      <a:endParaRPr lang="es-AR" dirty="0"/>
                    </a:p>
                  </a:txBody>
                  <a:tcPr anchor="ctr"/>
                </a:tc>
                <a:tc>
                  <a:txBody>
                    <a:bodyPr/>
                    <a:lstStyle/>
                    <a:p>
                      <a:pPr algn="ctr"/>
                      <a:r>
                        <a:rPr lang="es-AR" dirty="0" smtClean="0"/>
                        <a:t>6</a:t>
                      </a:r>
                      <a:endParaRPr lang="es-AR" dirty="0"/>
                    </a:p>
                  </a:txBody>
                  <a:tcPr anchor="ctr"/>
                </a:tc>
                <a:tc>
                  <a:txBody>
                    <a:bodyPr/>
                    <a:lstStyle/>
                    <a:p>
                      <a:pPr algn="ctr"/>
                      <a:r>
                        <a:rPr lang="es-AR" dirty="0" smtClean="0"/>
                        <a:t>62.68</a:t>
                      </a:r>
                      <a:endParaRPr lang="es-AR" dirty="0"/>
                    </a:p>
                  </a:txBody>
                  <a:tcPr anchor="ctr"/>
                </a:tc>
              </a:tr>
              <a:tr h="370840">
                <a:tc>
                  <a:txBody>
                    <a:bodyPr/>
                    <a:lstStyle/>
                    <a:p>
                      <a:pPr algn="ctr"/>
                      <a:r>
                        <a:rPr lang="es-AR" dirty="0" smtClean="0"/>
                        <a:t>South </a:t>
                      </a:r>
                      <a:r>
                        <a:rPr lang="es-AR" dirty="0" err="1" smtClean="0"/>
                        <a:t>America</a:t>
                      </a:r>
                      <a:endParaRPr lang="es-AR" dirty="0"/>
                    </a:p>
                  </a:txBody>
                  <a:tcPr anchor="ctr"/>
                </a:tc>
                <a:tc>
                  <a:txBody>
                    <a:bodyPr/>
                    <a:lstStyle/>
                    <a:p>
                      <a:pPr algn="ctr"/>
                      <a:r>
                        <a:rPr lang="es-AR" dirty="0" smtClean="0"/>
                        <a:t>3</a:t>
                      </a:r>
                      <a:endParaRPr lang="es-AR" dirty="0"/>
                    </a:p>
                  </a:txBody>
                  <a:tcPr anchor="ctr"/>
                </a:tc>
                <a:tc>
                  <a:txBody>
                    <a:bodyPr/>
                    <a:lstStyle/>
                    <a:p>
                      <a:pPr algn="ctr"/>
                      <a:r>
                        <a:rPr lang="es-AR" dirty="0" smtClean="0"/>
                        <a:t>63.53</a:t>
                      </a:r>
                      <a:endParaRPr lang="es-AR" dirty="0"/>
                    </a:p>
                  </a:txBody>
                  <a:tcPr anchor="ctr"/>
                </a:tc>
              </a:tr>
              <a:tr h="370840">
                <a:tc>
                  <a:txBody>
                    <a:bodyPr/>
                    <a:lstStyle/>
                    <a:p>
                      <a:pPr algn="ctr"/>
                      <a:r>
                        <a:rPr lang="es-AR" dirty="0" smtClean="0"/>
                        <a:t>North</a:t>
                      </a:r>
                      <a:r>
                        <a:rPr lang="es-AR" baseline="0" dirty="0" smtClean="0"/>
                        <a:t> </a:t>
                      </a:r>
                      <a:r>
                        <a:rPr lang="es-AR" baseline="0" dirty="0" err="1" smtClean="0"/>
                        <a:t>America</a:t>
                      </a:r>
                      <a:endParaRPr lang="es-AR" dirty="0"/>
                    </a:p>
                  </a:txBody>
                  <a:tcPr anchor="ctr"/>
                </a:tc>
                <a:tc>
                  <a:txBody>
                    <a:bodyPr/>
                    <a:lstStyle/>
                    <a:p>
                      <a:pPr algn="ctr"/>
                      <a:r>
                        <a:rPr lang="es-AR" dirty="0" smtClean="0"/>
                        <a:t>3</a:t>
                      </a:r>
                      <a:endParaRPr lang="es-AR" dirty="0"/>
                    </a:p>
                  </a:txBody>
                  <a:tcPr anchor="ctr"/>
                </a:tc>
                <a:tc>
                  <a:txBody>
                    <a:bodyPr/>
                    <a:lstStyle/>
                    <a:p>
                      <a:pPr algn="ctr"/>
                      <a:r>
                        <a:rPr lang="es-AR" dirty="0" smtClean="0"/>
                        <a:t>59.97</a:t>
                      </a:r>
                      <a:endParaRPr lang="es-AR" dirty="0"/>
                    </a:p>
                  </a:txBody>
                  <a:tcPr anchor="ctr"/>
                </a:tc>
              </a:tr>
              <a:tr h="370840">
                <a:tc>
                  <a:txBody>
                    <a:bodyPr/>
                    <a:lstStyle/>
                    <a:p>
                      <a:pPr algn="ctr"/>
                      <a:r>
                        <a:rPr lang="es-AR" dirty="0" err="1" smtClean="0"/>
                        <a:t>Europe</a:t>
                      </a:r>
                      <a:endParaRPr lang="es-AR" dirty="0"/>
                    </a:p>
                  </a:txBody>
                  <a:tcPr anchor="ctr"/>
                </a:tc>
                <a:tc>
                  <a:txBody>
                    <a:bodyPr/>
                    <a:lstStyle/>
                    <a:p>
                      <a:pPr algn="ctr"/>
                      <a:r>
                        <a:rPr lang="es-AR" dirty="0" smtClean="0"/>
                        <a:t>2</a:t>
                      </a:r>
                      <a:endParaRPr lang="es-AR" dirty="0"/>
                    </a:p>
                  </a:txBody>
                  <a:tcPr anchor="ctr"/>
                </a:tc>
                <a:tc>
                  <a:txBody>
                    <a:bodyPr/>
                    <a:lstStyle/>
                    <a:p>
                      <a:pPr algn="ctr"/>
                      <a:r>
                        <a:rPr lang="es-AR" dirty="0" smtClean="0"/>
                        <a:t>62.25</a:t>
                      </a:r>
                      <a:endParaRPr lang="es-AR" dirty="0"/>
                    </a:p>
                  </a:txBody>
                  <a:tcPr anchor="ctr"/>
                </a:tc>
              </a:tr>
            </a:tbl>
          </a:graphicData>
        </a:graphic>
      </p:graphicFrame>
    </p:spTree>
    <p:extLst>
      <p:ext uri="{BB962C8B-B14F-4D97-AF65-F5344CB8AC3E}">
        <p14:creationId xmlns:p14="http://schemas.microsoft.com/office/powerpoint/2010/main" val="22748776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rotWithShape="1">
          <a:blip r:embed="rId2">
            <a:extLst>
              <a:ext uri="{28A0092B-C50C-407E-A947-70E740481C1C}">
                <a14:useLocalDpi xmlns:a14="http://schemas.microsoft.com/office/drawing/2010/main" val="0"/>
              </a:ext>
            </a:extLst>
          </a:blip>
          <a:srcRect b="10036"/>
          <a:stretch/>
        </p:blipFill>
        <p:spPr>
          <a:xfrm>
            <a:off x="0" y="0"/>
            <a:ext cx="9144000" cy="6957392"/>
          </a:xfrm>
          <a:prstGeom prst="rect">
            <a:avLst/>
          </a:prstGeom>
        </p:spPr>
      </p:pic>
      <p:sp>
        <p:nvSpPr>
          <p:cNvPr id="2" name="1 Rectángulo"/>
          <p:cNvSpPr/>
          <p:nvPr/>
        </p:nvSpPr>
        <p:spPr>
          <a:xfrm>
            <a:off x="347500" y="332656"/>
            <a:ext cx="8737788" cy="1200329"/>
          </a:xfrm>
          <a:prstGeom prst="rect">
            <a:avLst/>
          </a:prstGeom>
          <a:noFill/>
        </p:spPr>
        <p:txBody>
          <a:bodyPr wrap="squar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s-AR" sz="3600" b="1" spc="150" dirty="0">
                <a:ln w="11430"/>
                <a:solidFill>
                  <a:srgbClr val="F8F8F8"/>
                </a:solidFill>
                <a:effectLst>
                  <a:outerShdw blurRad="25400" algn="tl" rotWithShape="0">
                    <a:srgbClr val="000000">
                      <a:alpha val="43000"/>
                    </a:srgbClr>
                  </a:outerShdw>
                </a:effectLst>
              </a:rPr>
              <a:t>¿Qué porcentaje de la población total vive en la ciudad más grande?</a:t>
            </a:r>
            <a:endParaRPr lang="es-ES" sz="3600" b="1" spc="150" dirty="0">
              <a:ln w="11430"/>
              <a:solidFill>
                <a:srgbClr val="F8F8F8"/>
              </a:solidFill>
              <a:effectLst>
                <a:outerShdw blurRad="25400" algn="tl" rotWithShape="0">
                  <a:srgbClr val="000000">
                    <a:alpha val="43000"/>
                  </a:srgbClr>
                </a:outerShdw>
              </a:effectLst>
            </a:endParaRPr>
          </a:p>
        </p:txBody>
      </p:sp>
      <p:pic>
        <p:nvPicPr>
          <p:cNvPr id="6" name="5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1700808"/>
            <a:ext cx="7401958" cy="4086795"/>
          </a:xfrm>
          <a:prstGeom prst="rect">
            <a:avLst/>
          </a:prstGeom>
        </p:spPr>
      </p:pic>
      <p:sp>
        <p:nvSpPr>
          <p:cNvPr id="7" name="6 CuadroTexto"/>
          <p:cNvSpPr txBox="1"/>
          <p:nvPr/>
        </p:nvSpPr>
        <p:spPr>
          <a:xfrm>
            <a:off x="971600" y="5877272"/>
            <a:ext cx="7401958" cy="584775"/>
          </a:xfrm>
          <a:prstGeom prst="rect">
            <a:avLst/>
          </a:prstGeom>
          <a:noFill/>
        </p:spPr>
        <p:txBody>
          <a:bodyPr wrap="square" rtlCol="0">
            <a:spAutoFit/>
          </a:bodyPr>
          <a:lstStyle/>
          <a:p>
            <a:pPr algn="just"/>
            <a:r>
              <a:rPr lang="es-AR" sz="1600" dirty="0">
                <a:solidFill>
                  <a:schemeClr val="bg1"/>
                </a:solidFill>
              </a:rPr>
              <a:t>Evidencia de Macrocefalia Urbana: Casos críticos donde la nación depende de un solo centro operativo</a:t>
            </a:r>
          </a:p>
        </p:txBody>
      </p:sp>
    </p:spTree>
    <p:extLst>
      <p:ext uri="{BB962C8B-B14F-4D97-AF65-F5344CB8AC3E}">
        <p14:creationId xmlns:p14="http://schemas.microsoft.com/office/powerpoint/2010/main" val="16857786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rotWithShape="1">
          <a:blip r:embed="rId2">
            <a:extLst>
              <a:ext uri="{28A0092B-C50C-407E-A947-70E740481C1C}">
                <a14:useLocalDpi xmlns:a14="http://schemas.microsoft.com/office/drawing/2010/main" val="0"/>
              </a:ext>
            </a:extLst>
          </a:blip>
          <a:srcRect b="10036"/>
          <a:stretch/>
        </p:blipFill>
        <p:spPr>
          <a:xfrm>
            <a:off x="0" y="0"/>
            <a:ext cx="9144000" cy="6957392"/>
          </a:xfrm>
          <a:prstGeom prst="rect">
            <a:avLst/>
          </a:prstGeom>
        </p:spPr>
      </p:pic>
      <p:sp>
        <p:nvSpPr>
          <p:cNvPr id="3" name="2 Rectángulo"/>
          <p:cNvSpPr/>
          <p:nvPr/>
        </p:nvSpPr>
        <p:spPr>
          <a:xfrm>
            <a:off x="2018578" y="332656"/>
            <a:ext cx="5270281" cy="707886"/>
          </a:xfrm>
          <a:prstGeom prst="rect">
            <a:avLst/>
          </a:prstGeom>
          <a:noFill/>
        </p:spPr>
        <p:txBody>
          <a:bodyPr wrap="squar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s-AR" sz="4000" b="1" spc="150" dirty="0" smtClean="0">
                <a:ln w="11430"/>
                <a:solidFill>
                  <a:srgbClr val="F8F8F8"/>
                </a:solidFill>
                <a:effectLst>
                  <a:outerShdw blurRad="25400" algn="tl" rotWithShape="0">
                    <a:srgbClr val="000000">
                      <a:alpha val="43000"/>
                    </a:srgbClr>
                  </a:outerShdw>
                </a:effectLst>
              </a:rPr>
              <a:t>Inclusión y Lenguaje </a:t>
            </a:r>
            <a:endParaRPr lang="es-AR" sz="4000" b="1" spc="150" dirty="0">
              <a:ln w="11430"/>
              <a:solidFill>
                <a:srgbClr val="F8F8F8"/>
              </a:solidFill>
              <a:effectLst>
                <a:outerShdw blurRad="25400" algn="tl" rotWithShape="0">
                  <a:srgbClr val="000000">
                    <a:alpha val="43000"/>
                  </a:srgbClr>
                </a:outerShdw>
              </a:effectLst>
            </a:endParaRPr>
          </a:p>
        </p:txBody>
      </p:sp>
      <p:pic>
        <p:nvPicPr>
          <p:cNvPr id="6" name="5 Imagen"/>
          <p:cNvPicPr>
            <a:picLocks noChangeAspect="1"/>
          </p:cNvPicPr>
          <p:nvPr/>
        </p:nvPicPr>
        <p:blipFill rotWithShape="1">
          <a:blip r:embed="rId3">
            <a:extLst>
              <a:ext uri="{28A0092B-C50C-407E-A947-70E740481C1C}">
                <a14:useLocalDpi xmlns:a14="http://schemas.microsoft.com/office/drawing/2010/main" val="0"/>
              </a:ext>
            </a:extLst>
          </a:blip>
          <a:srcRect t="4529" r="3022"/>
          <a:stretch/>
        </p:blipFill>
        <p:spPr>
          <a:xfrm>
            <a:off x="683567" y="1830027"/>
            <a:ext cx="7940305" cy="4191261"/>
          </a:xfrm>
          <a:prstGeom prst="rect">
            <a:avLst/>
          </a:prstGeom>
        </p:spPr>
      </p:pic>
      <p:sp>
        <p:nvSpPr>
          <p:cNvPr id="2" name="1 CuadroTexto"/>
          <p:cNvSpPr txBox="1"/>
          <p:nvPr/>
        </p:nvSpPr>
        <p:spPr>
          <a:xfrm>
            <a:off x="663377" y="1219845"/>
            <a:ext cx="7960495" cy="584775"/>
          </a:xfrm>
          <a:prstGeom prst="rect">
            <a:avLst/>
          </a:prstGeom>
          <a:noFill/>
        </p:spPr>
        <p:txBody>
          <a:bodyPr wrap="square" rtlCol="0">
            <a:spAutoFit/>
          </a:bodyPr>
          <a:lstStyle/>
          <a:p>
            <a:r>
              <a:rPr lang="es-AR" sz="1600" dirty="0">
                <a:solidFill>
                  <a:schemeClr val="bg1"/>
                </a:solidFill>
              </a:rPr>
              <a:t>La brecha de comunicación. En países como los analizados, existen decenas de idiomas hablados que no tienen reconocimiento oficial.</a:t>
            </a:r>
          </a:p>
        </p:txBody>
      </p:sp>
      <p:sp>
        <p:nvSpPr>
          <p:cNvPr id="7" name="6 CuadroTexto"/>
          <p:cNvSpPr txBox="1"/>
          <p:nvPr/>
        </p:nvSpPr>
        <p:spPr>
          <a:xfrm>
            <a:off x="663378" y="6093296"/>
            <a:ext cx="7940305" cy="584775"/>
          </a:xfrm>
          <a:prstGeom prst="rect">
            <a:avLst/>
          </a:prstGeom>
          <a:noFill/>
        </p:spPr>
        <p:txBody>
          <a:bodyPr wrap="square" rtlCol="0">
            <a:spAutoFit/>
          </a:bodyPr>
          <a:lstStyle/>
          <a:p>
            <a:r>
              <a:rPr lang="es-AR" sz="1600" dirty="0">
                <a:solidFill>
                  <a:schemeClr val="bg1"/>
                </a:solidFill>
              </a:rPr>
              <a:t>Esto genera exclusión. Si una persona solo habla un idioma no oficial, queda fuera del sistema educativo y de los servicios de salud (ODS 4 y 10).</a:t>
            </a:r>
          </a:p>
        </p:txBody>
      </p:sp>
    </p:spTree>
    <p:extLst>
      <p:ext uri="{BB962C8B-B14F-4D97-AF65-F5344CB8AC3E}">
        <p14:creationId xmlns:p14="http://schemas.microsoft.com/office/powerpoint/2010/main" val="8109693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rotWithShape="1">
          <a:blip r:embed="rId2">
            <a:extLst>
              <a:ext uri="{28A0092B-C50C-407E-A947-70E740481C1C}">
                <a14:useLocalDpi xmlns:a14="http://schemas.microsoft.com/office/drawing/2010/main" val="0"/>
              </a:ext>
            </a:extLst>
          </a:blip>
          <a:srcRect b="10036"/>
          <a:stretch/>
        </p:blipFill>
        <p:spPr>
          <a:xfrm>
            <a:off x="-17794" y="0"/>
            <a:ext cx="9161794" cy="6957392"/>
          </a:xfrm>
          <a:prstGeom prst="rect">
            <a:avLst/>
          </a:prstGeom>
        </p:spPr>
      </p:pic>
      <p:sp>
        <p:nvSpPr>
          <p:cNvPr id="3" name="2 Rectángulo"/>
          <p:cNvSpPr/>
          <p:nvPr/>
        </p:nvSpPr>
        <p:spPr>
          <a:xfrm>
            <a:off x="2123728" y="332656"/>
            <a:ext cx="5270281" cy="707886"/>
          </a:xfrm>
          <a:prstGeom prst="rect">
            <a:avLst/>
          </a:prstGeom>
          <a:noFill/>
        </p:spPr>
        <p:txBody>
          <a:bodyPr wrap="squar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s-AR" sz="4000" b="1" spc="150" dirty="0" smtClean="0">
                <a:ln w="11430"/>
                <a:solidFill>
                  <a:srgbClr val="F8F8F8"/>
                </a:solidFill>
                <a:effectLst>
                  <a:outerShdw blurRad="25400" algn="tl" rotWithShape="0">
                    <a:srgbClr val="000000">
                      <a:alpha val="43000"/>
                    </a:srgbClr>
                  </a:outerShdw>
                </a:effectLst>
              </a:rPr>
              <a:t>Inclusión y Lenguaje </a:t>
            </a:r>
            <a:endParaRPr lang="es-AR" sz="4000" b="1" spc="150" dirty="0">
              <a:ln w="11430"/>
              <a:solidFill>
                <a:srgbClr val="F8F8F8"/>
              </a:solidFill>
              <a:effectLst>
                <a:outerShdw blurRad="25400" algn="tl" rotWithShape="0">
                  <a:srgbClr val="000000">
                    <a:alpha val="43000"/>
                  </a:srgbClr>
                </a:outerShdw>
              </a:effectLst>
            </a:endParaRPr>
          </a:p>
        </p:txBody>
      </p:sp>
      <p:pic>
        <p:nvPicPr>
          <p:cNvPr id="2" name="1 Imagen"/>
          <p:cNvPicPr>
            <a:picLocks noChangeAspect="1"/>
          </p:cNvPicPr>
          <p:nvPr/>
        </p:nvPicPr>
        <p:blipFill rotWithShape="1">
          <a:blip r:embed="rId3">
            <a:extLst>
              <a:ext uri="{28A0092B-C50C-407E-A947-70E740481C1C}">
                <a14:useLocalDpi xmlns:a14="http://schemas.microsoft.com/office/drawing/2010/main" val="0"/>
              </a:ext>
            </a:extLst>
          </a:blip>
          <a:srcRect l="2210" t="6467" b="2036"/>
          <a:stretch/>
        </p:blipFill>
        <p:spPr>
          <a:xfrm>
            <a:off x="663187" y="1473864"/>
            <a:ext cx="7841281" cy="4215641"/>
          </a:xfrm>
          <a:prstGeom prst="rect">
            <a:avLst/>
          </a:prstGeom>
        </p:spPr>
      </p:pic>
      <p:sp>
        <p:nvSpPr>
          <p:cNvPr id="5" name="4 CuadroTexto"/>
          <p:cNvSpPr txBox="1"/>
          <p:nvPr/>
        </p:nvSpPr>
        <p:spPr>
          <a:xfrm>
            <a:off x="1583667" y="1093968"/>
            <a:ext cx="6350401" cy="338554"/>
          </a:xfrm>
          <a:prstGeom prst="rect">
            <a:avLst/>
          </a:prstGeom>
          <a:noFill/>
        </p:spPr>
        <p:txBody>
          <a:bodyPr wrap="square" rtlCol="0">
            <a:spAutoFit/>
          </a:bodyPr>
          <a:lstStyle/>
          <a:p>
            <a:r>
              <a:rPr lang="es-AR" sz="1600" dirty="0">
                <a:solidFill>
                  <a:schemeClr val="bg1"/>
                </a:solidFill>
              </a:rPr>
              <a:t>¿Qué países tienen mayor riesgo de exclusión por su diversidad</a:t>
            </a:r>
            <a:r>
              <a:rPr lang="es-AR" sz="1600" dirty="0" smtClean="0">
                <a:solidFill>
                  <a:schemeClr val="bg1"/>
                </a:solidFill>
              </a:rPr>
              <a:t>?</a:t>
            </a:r>
            <a:endParaRPr lang="es-AR" sz="1600" b="1" dirty="0">
              <a:solidFill>
                <a:schemeClr val="bg1"/>
              </a:solidFill>
            </a:endParaRPr>
          </a:p>
        </p:txBody>
      </p:sp>
      <p:sp>
        <p:nvSpPr>
          <p:cNvPr id="6" name="5 CuadroTexto"/>
          <p:cNvSpPr txBox="1"/>
          <p:nvPr/>
        </p:nvSpPr>
        <p:spPr>
          <a:xfrm>
            <a:off x="566296" y="5831686"/>
            <a:ext cx="8064896" cy="738664"/>
          </a:xfrm>
          <a:prstGeom prst="rect">
            <a:avLst/>
          </a:prstGeom>
          <a:noFill/>
        </p:spPr>
        <p:txBody>
          <a:bodyPr wrap="square" rtlCol="0">
            <a:spAutoFit/>
          </a:bodyPr>
          <a:lstStyle/>
          <a:p>
            <a:pPr algn="just"/>
            <a:r>
              <a:rPr lang="es-AR" sz="1400" dirty="0">
                <a:solidFill>
                  <a:schemeClr val="bg1"/>
                </a:solidFill>
              </a:rPr>
              <a:t>Las barras rojas identifican países sin ningún idioma oficial registrado a pesar de su alta población. Las naranjas muestran una fragmentación extrema (más de 5 idiomas principales</a:t>
            </a:r>
            <a:r>
              <a:rPr lang="es-AR" sz="1400" dirty="0" smtClean="0">
                <a:solidFill>
                  <a:schemeClr val="bg1"/>
                </a:solidFill>
              </a:rPr>
              <a:t>). </a:t>
            </a:r>
            <a:r>
              <a:rPr lang="es-AR" sz="1400" dirty="0">
                <a:solidFill>
                  <a:schemeClr val="bg1"/>
                </a:solidFill>
              </a:rPr>
              <a:t>Estos países requieren que cualquier intervención internacional sea multilingüe para ser efectiva.</a:t>
            </a:r>
          </a:p>
        </p:txBody>
      </p:sp>
    </p:spTree>
    <p:extLst>
      <p:ext uri="{BB962C8B-B14F-4D97-AF65-F5344CB8AC3E}">
        <p14:creationId xmlns:p14="http://schemas.microsoft.com/office/powerpoint/2010/main" val="30313727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rotWithShape="1">
          <a:blip r:embed="rId2">
            <a:extLst>
              <a:ext uri="{28A0092B-C50C-407E-A947-70E740481C1C}">
                <a14:useLocalDpi xmlns:a14="http://schemas.microsoft.com/office/drawing/2010/main" val="0"/>
              </a:ext>
            </a:extLst>
          </a:blip>
          <a:srcRect b="10036"/>
          <a:stretch/>
        </p:blipFill>
        <p:spPr>
          <a:xfrm>
            <a:off x="0" y="0"/>
            <a:ext cx="9144000" cy="6957392"/>
          </a:xfrm>
          <a:prstGeom prst="rect">
            <a:avLst/>
          </a:prstGeom>
        </p:spPr>
      </p:pic>
      <p:sp>
        <p:nvSpPr>
          <p:cNvPr id="2" name="1 Rectángulo"/>
          <p:cNvSpPr/>
          <p:nvPr/>
        </p:nvSpPr>
        <p:spPr>
          <a:xfrm>
            <a:off x="870158" y="539220"/>
            <a:ext cx="7608173" cy="707886"/>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s-AR" sz="4000" b="1" spc="150" dirty="0">
                <a:ln w="11430"/>
                <a:solidFill>
                  <a:srgbClr val="F8F8F8"/>
                </a:solidFill>
                <a:effectLst>
                  <a:outerShdw blurRad="25400" algn="tl" rotWithShape="0">
                    <a:srgbClr val="000000">
                      <a:alpha val="43000"/>
                    </a:srgbClr>
                  </a:outerShdw>
                </a:effectLst>
              </a:rPr>
              <a:t>Conclusiones del Análisis Global</a:t>
            </a:r>
            <a:endParaRPr lang="es-ES" sz="4000" b="1" spc="150" dirty="0">
              <a:ln w="11430"/>
              <a:solidFill>
                <a:srgbClr val="F8F8F8"/>
              </a:solidFill>
              <a:effectLst>
                <a:outerShdw blurRad="25400" algn="tl" rotWithShape="0">
                  <a:srgbClr val="000000">
                    <a:alpha val="43000"/>
                  </a:srgbClr>
                </a:outerShdw>
              </a:effectLst>
            </a:endParaRPr>
          </a:p>
        </p:txBody>
      </p:sp>
      <p:sp>
        <p:nvSpPr>
          <p:cNvPr id="4" name="3 Rectángulo redondeado"/>
          <p:cNvSpPr/>
          <p:nvPr/>
        </p:nvSpPr>
        <p:spPr>
          <a:xfrm>
            <a:off x="781906" y="1700808"/>
            <a:ext cx="7784679" cy="1152128"/>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8 Rectángulo redondeado"/>
          <p:cNvSpPr/>
          <p:nvPr/>
        </p:nvSpPr>
        <p:spPr>
          <a:xfrm>
            <a:off x="829147" y="3180430"/>
            <a:ext cx="7784679" cy="1152128"/>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9 Rectángulo redondeado"/>
          <p:cNvSpPr/>
          <p:nvPr/>
        </p:nvSpPr>
        <p:spPr>
          <a:xfrm>
            <a:off x="843826" y="4653136"/>
            <a:ext cx="7784679" cy="1152128"/>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4 CuadroTexto"/>
          <p:cNvSpPr txBox="1"/>
          <p:nvPr/>
        </p:nvSpPr>
        <p:spPr>
          <a:xfrm>
            <a:off x="932080" y="1775718"/>
            <a:ext cx="7456344" cy="1077218"/>
          </a:xfrm>
          <a:prstGeom prst="rect">
            <a:avLst/>
          </a:prstGeom>
          <a:noFill/>
        </p:spPr>
        <p:txBody>
          <a:bodyPr wrap="square" rtlCol="0">
            <a:spAutoFit/>
          </a:bodyPr>
          <a:lstStyle/>
          <a:p>
            <a:pPr algn="just"/>
            <a:r>
              <a:rPr lang="es-AR" sz="1600" b="1" dirty="0">
                <a:solidFill>
                  <a:schemeClr val="bg1"/>
                </a:solidFill>
              </a:rPr>
              <a:t>Brecha de Bienestar (ODS 3):</a:t>
            </a:r>
            <a:r>
              <a:rPr lang="es-AR" sz="1600" dirty="0">
                <a:solidFill>
                  <a:schemeClr val="bg1"/>
                </a:solidFill>
              </a:rPr>
              <a:t> Mientras un grupo sólido de naciones supera los </a:t>
            </a:r>
            <a:r>
              <a:rPr lang="es-AR" sz="1600" b="1" dirty="0">
                <a:solidFill>
                  <a:schemeClr val="bg1"/>
                </a:solidFill>
              </a:rPr>
              <a:t>79 años</a:t>
            </a:r>
            <a:r>
              <a:rPr lang="es-AR" sz="1600" dirty="0">
                <a:solidFill>
                  <a:schemeClr val="bg1"/>
                </a:solidFill>
              </a:rPr>
              <a:t> de esperanza de vida (identificados en nuestro análisis de éxito), la persistencia de regiones por debajo del promedio mundial evidencia una desigualdad crítica en el acceso a salud y nutrición.</a:t>
            </a:r>
          </a:p>
        </p:txBody>
      </p:sp>
      <p:sp>
        <p:nvSpPr>
          <p:cNvPr id="11" name="10 CuadroTexto"/>
          <p:cNvSpPr txBox="1"/>
          <p:nvPr/>
        </p:nvSpPr>
        <p:spPr>
          <a:xfrm>
            <a:off x="932080" y="3180430"/>
            <a:ext cx="7608173" cy="1077218"/>
          </a:xfrm>
          <a:prstGeom prst="rect">
            <a:avLst/>
          </a:prstGeom>
          <a:noFill/>
        </p:spPr>
        <p:txBody>
          <a:bodyPr wrap="square" rtlCol="0">
            <a:spAutoFit/>
          </a:bodyPr>
          <a:lstStyle/>
          <a:p>
            <a:pPr algn="just"/>
            <a:r>
              <a:rPr lang="es-AR" sz="1600" b="1" dirty="0">
                <a:solidFill>
                  <a:schemeClr val="bg1"/>
                </a:solidFill>
              </a:rPr>
              <a:t>Vulnerabilidad por Centralización (ODS 11):</a:t>
            </a:r>
            <a:r>
              <a:rPr lang="es-AR" sz="1600" dirty="0">
                <a:solidFill>
                  <a:schemeClr val="bg1"/>
                </a:solidFill>
              </a:rPr>
              <a:t> Países con más del </a:t>
            </a:r>
            <a:r>
              <a:rPr lang="es-AR" sz="1600" b="1" dirty="0">
                <a:solidFill>
                  <a:schemeClr val="bg1"/>
                </a:solidFill>
              </a:rPr>
              <a:t>50% de su población</a:t>
            </a:r>
            <a:r>
              <a:rPr lang="es-AR" sz="1600" dirty="0">
                <a:solidFill>
                  <a:schemeClr val="bg1"/>
                </a:solidFill>
              </a:rPr>
              <a:t> concentrada en una sola "megaciudad" (como </a:t>
            </a:r>
            <a:r>
              <a:rPr lang="es-AR" sz="1600" dirty="0" smtClean="0">
                <a:solidFill>
                  <a:schemeClr val="bg1"/>
                </a:solidFill>
              </a:rPr>
              <a:t>Singapur) enfrenta </a:t>
            </a:r>
            <a:r>
              <a:rPr lang="es-AR" sz="1600" dirty="0">
                <a:solidFill>
                  <a:schemeClr val="bg1"/>
                </a:solidFill>
              </a:rPr>
              <a:t>un riesgo elevado. La dependencia de una única infraestructura urbana los hace vulnerables ante crisis climáticas o sanitarias.</a:t>
            </a:r>
          </a:p>
        </p:txBody>
      </p:sp>
      <p:sp>
        <p:nvSpPr>
          <p:cNvPr id="12" name="11 CuadroTexto"/>
          <p:cNvSpPr txBox="1"/>
          <p:nvPr/>
        </p:nvSpPr>
        <p:spPr>
          <a:xfrm>
            <a:off x="932080" y="4653136"/>
            <a:ext cx="7344816" cy="1077218"/>
          </a:xfrm>
          <a:prstGeom prst="rect">
            <a:avLst/>
          </a:prstGeom>
          <a:noFill/>
        </p:spPr>
        <p:txBody>
          <a:bodyPr wrap="square" rtlCol="0">
            <a:spAutoFit/>
          </a:bodyPr>
          <a:lstStyle/>
          <a:p>
            <a:pPr algn="just"/>
            <a:r>
              <a:rPr lang="es-AR" sz="1600" b="1" dirty="0">
                <a:solidFill>
                  <a:schemeClr val="bg1"/>
                </a:solidFill>
              </a:rPr>
              <a:t>El Reto de la Diversidad:</a:t>
            </a:r>
            <a:r>
              <a:rPr lang="es-AR" sz="1600" dirty="0">
                <a:solidFill>
                  <a:schemeClr val="bg1"/>
                </a:solidFill>
              </a:rPr>
              <a:t> La fragmentación lingüística no es solo un dato cultural; es una barrera de inclusión. Los países con alta población y múltiples idiomas sin oficializar tienen mayores dificultades para garantizar educación y servicios públicos equitativos.</a:t>
            </a:r>
          </a:p>
        </p:txBody>
      </p:sp>
    </p:spTree>
    <p:extLst>
      <p:ext uri="{BB962C8B-B14F-4D97-AF65-F5344CB8AC3E}">
        <p14:creationId xmlns:p14="http://schemas.microsoft.com/office/powerpoint/2010/main" val="395605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rotWithShape="1">
          <a:blip r:embed="rId2">
            <a:extLst>
              <a:ext uri="{28A0092B-C50C-407E-A947-70E740481C1C}">
                <a14:useLocalDpi xmlns:a14="http://schemas.microsoft.com/office/drawing/2010/main" val="0"/>
              </a:ext>
            </a:extLst>
          </a:blip>
          <a:srcRect b="10036"/>
          <a:stretch/>
        </p:blipFill>
        <p:spPr>
          <a:xfrm>
            <a:off x="0" y="0"/>
            <a:ext cx="9144000" cy="6957392"/>
          </a:xfrm>
          <a:prstGeom prst="rect">
            <a:avLst/>
          </a:prstGeom>
          <a:ln>
            <a:solidFill>
              <a:schemeClr val="accent5"/>
            </a:solidFill>
          </a:ln>
        </p:spPr>
      </p:pic>
      <p:sp>
        <p:nvSpPr>
          <p:cNvPr id="2" name="1 Rectángulo"/>
          <p:cNvSpPr/>
          <p:nvPr/>
        </p:nvSpPr>
        <p:spPr>
          <a:xfrm>
            <a:off x="552702" y="393692"/>
            <a:ext cx="8068683" cy="646331"/>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s-AR" sz="2400" b="1" spc="150" dirty="0">
                <a:ln w="11430"/>
                <a:solidFill>
                  <a:srgbClr val="F8F8F8"/>
                </a:solidFill>
                <a:effectLst>
                  <a:outerShdw blurRad="25400" algn="tl" rotWithShape="0">
                    <a:srgbClr val="000000">
                      <a:alpha val="43000"/>
                    </a:srgbClr>
                  </a:outerShdw>
                </a:effectLst>
              </a:rPr>
              <a:t>Recomendaciones </a:t>
            </a:r>
            <a:r>
              <a:rPr lang="es-AR" sz="3600" b="1" spc="150" dirty="0">
                <a:ln w="11430"/>
                <a:solidFill>
                  <a:srgbClr val="F8F8F8"/>
                </a:solidFill>
                <a:effectLst>
                  <a:outerShdw blurRad="25400" algn="tl" rotWithShape="0">
                    <a:srgbClr val="000000">
                      <a:alpha val="43000"/>
                    </a:srgbClr>
                  </a:outerShdw>
                </a:effectLst>
              </a:rPr>
              <a:t>Estratégicas</a:t>
            </a:r>
            <a:r>
              <a:rPr lang="es-AR" sz="2400" b="1" spc="150" dirty="0">
                <a:ln w="11430"/>
                <a:solidFill>
                  <a:srgbClr val="F8F8F8"/>
                </a:solidFill>
                <a:effectLst>
                  <a:outerShdw blurRad="25400" algn="tl" rotWithShape="0">
                    <a:srgbClr val="000000">
                      <a:alpha val="43000"/>
                    </a:srgbClr>
                  </a:outerShdw>
                </a:effectLst>
              </a:rPr>
              <a:t> para el Desarrollo</a:t>
            </a:r>
            <a:endParaRPr lang="es-ES" sz="2400" b="1" spc="150" dirty="0">
              <a:ln w="11430"/>
              <a:solidFill>
                <a:srgbClr val="F8F8F8"/>
              </a:solidFill>
              <a:effectLst>
                <a:outerShdw blurRad="25400" algn="tl" rotWithShape="0">
                  <a:srgbClr val="000000">
                    <a:alpha val="43000"/>
                  </a:srgbClr>
                </a:outerShdw>
              </a:effectLst>
            </a:endParaRPr>
          </a:p>
        </p:txBody>
      </p:sp>
      <p:sp>
        <p:nvSpPr>
          <p:cNvPr id="4" name="3 Rectángulo redondeado"/>
          <p:cNvSpPr/>
          <p:nvPr/>
        </p:nvSpPr>
        <p:spPr>
          <a:xfrm>
            <a:off x="1187624" y="1268760"/>
            <a:ext cx="3024336" cy="2592288"/>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Rectángulo redondeado"/>
          <p:cNvSpPr/>
          <p:nvPr/>
        </p:nvSpPr>
        <p:spPr>
          <a:xfrm>
            <a:off x="1187624" y="4124535"/>
            <a:ext cx="3024336" cy="2592288"/>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7 Rectángulo redondeado"/>
          <p:cNvSpPr/>
          <p:nvPr/>
        </p:nvSpPr>
        <p:spPr>
          <a:xfrm>
            <a:off x="4934548" y="1266326"/>
            <a:ext cx="3024336" cy="2592288"/>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8 Rectángulo redondeado"/>
          <p:cNvSpPr/>
          <p:nvPr/>
        </p:nvSpPr>
        <p:spPr>
          <a:xfrm>
            <a:off x="5004048" y="4153672"/>
            <a:ext cx="3024336" cy="2592288"/>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4 CuadroTexto"/>
          <p:cNvSpPr txBox="1"/>
          <p:nvPr/>
        </p:nvSpPr>
        <p:spPr>
          <a:xfrm>
            <a:off x="1403648" y="1484784"/>
            <a:ext cx="2592288" cy="2062103"/>
          </a:xfrm>
          <a:prstGeom prst="rect">
            <a:avLst/>
          </a:prstGeom>
          <a:noFill/>
        </p:spPr>
        <p:txBody>
          <a:bodyPr wrap="square" rtlCol="0">
            <a:spAutoFit/>
          </a:bodyPr>
          <a:lstStyle/>
          <a:p>
            <a:pPr algn="just"/>
            <a:r>
              <a:rPr lang="es-AR" sz="1600" b="1" dirty="0">
                <a:solidFill>
                  <a:schemeClr val="bg1"/>
                </a:solidFill>
              </a:rPr>
              <a:t>Copiar los modelos de éxito:</a:t>
            </a:r>
            <a:r>
              <a:rPr lang="es-AR" sz="1600" dirty="0">
                <a:solidFill>
                  <a:schemeClr val="bg1"/>
                </a:solidFill>
              </a:rPr>
              <a:t> Analizar qué están haciendo bien los países con alta esperanza de vida para tratar de aplicar esas mismas soluciones en los países que están por debajo del promedio.</a:t>
            </a:r>
          </a:p>
        </p:txBody>
      </p:sp>
      <p:sp>
        <p:nvSpPr>
          <p:cNvPr id="10" name="9 CuadroTexto"/>
          <p:cNvSpPr txBox="1"/>
          <p:nvPr/>
        </p:nvSpPr>
        <p:spPr>
          <a:xfrm>
            <a:off x="5256076" y="1522958"/>
            <a:ext cx="2520280" cy="1569660"/>
          </a:xfrm>
          <a:prstGeom prst="rect">
            <a:avLst/>
          </a:prstGeom>
          <a:noFill/>
        </p:spPr>
        <p:txBody>
          <a:bodyPr wrap="square" rtlCol="0">
            <a:spAutoFit/>
          </a:bodyPr>
          <a:lstStyle/>
          <a:p>
            <a:r>
              <a:rPr lang="es-AR" sz="1600" b="1" dirty="0">
                <a:solidFill>
                  <a:schemeClr val="bg1"/>
                </a:solidFill>
              </a:rPr>
              <a:t>Repartir la población:</a:t>
            </a:r>
            <a:r>
              <a:rPr lang="es-AR" sz="1600" dirty="0">
                <a:solidFill>
                  <a:schemeClr val="bg1"/>
                </a:solidFill>
              </a:rPr>
              <a:t> Incentivar que la gente viva y trabaje en otras ciudades más pequeñas, para que el país no dependa de una sola "megaciudad".</a:t>
            </a:r>
          </a:p>
        </p:txBody>
      </p:sp>
      <p:sp>
        <p:nvSpPr>
          <p:cNvPr id="11" name="10 CuadroTexto"/>
          <p:cNvSpPr txBox="1"/>
          <p:nvPr/>
        </p:nvSpPr>
        <p:spPr>
          <a:xfrm>
            <a:off x="1403648" y="4365104"/>
            <a:ext cx="2592288" cy="2308324"/>
          </a:xfrm>
          <a:prstGeom prst="rect">
            <a:avLst/>
          </a:prstGeom>
          <a:noFill/>
        </p:spPr>
        <p:txBody>
          <a:bodyPr wrap="square" rtlCol="0">
            <a:spAutoFit/>
          </a:bodyPr>
          <a:lstStyle/>
          <a:p>
            <a:pPr algn="just"/>
            <a:r>
              <a:rPr lang="es-AR" sz="1600" b="1" dirty="0">
                <a:solidFill>
                  <a:schemeClr val="bg1"/>
                </a:solidFill>
              </a:rPr>
              <a:t>Comunicación para todos:</a:t>
            </a:r>
            <a:r>
              <a:rPr lang="es-AR" sz="1600" dirty="0">
                <a:solidFill>
                  <a:schemeClr val="bg1"/>
                </a:solidFill>
              </a:rPr>
              <a:t> En países con muchos idiomas, los programas de ayuda (como los de la ONU) deben entregarse en las lenguas locales de la gente, no solo en un idioma oficial, para que nadie se quede fuera.</a:t>
            </a:r>
            <a:endParaRPr lang="es-AR" dirty="0">
              <a:solidFill>
                <a:schemeClr val="bg1"/>
              </a:solidFill>
            </a:endParaRPr>
          </a:p>
        </p:txBody>
      </p:sp>
      <p:sp>
        <p:nvSpPr>
          <p:cNvPr id="12" name="11 CuadroTexto"/>
          <p:cNvSpPr txBox="1"/>
          <p:nvPr/>
        </p:nvSpPr>
        <p:spPr>
          <a:xfrm>
            <a:off x="5130062" y="4326264"/>
            <a:ext cx="2772308" cy="2308324"/>
          </a:xfrm>
          <a:prstGeom prst="rect">
            <a:avLst/>
          </a:prstGeom>
          <a:noFill/>
        </p:spPr>
        <p:txBody>
          <a:bodyPr wrap="square" rtlCol="0">
            <a:spAutoFit/>
          </a:bodyPr>
          <a:lstStyle/>
          <a:p>
            <a:pPr algn="just"/>
            <a:r>
              <a:rPr lang="es-AR" sz="1600" b="1" dirty="0" smtClean="0">
                <a:solidFill>
                  <a:schemeClr val="bg1"/>
                </a:solidFill>
              </a:rPr>
              <a:t>Datos Actualizados</a:t>
            </a:r>
            <a:r>
              <a:rPr lang="es-AR" sz="1600" b="1" dirty="0">
                <a:solidFill>
                  <a:schemeClr val="bg1"/>
                </a:solidFill>
              </a:rPr>
              <a:t>:</a:t>
            </a:r>
            <a:r>
              <a:rPr lang="es-AR" sz="1600" dirty="0">
                <a:solidFill>
                  <a:schemeClr val="bg1"/>
                </a:solidFill>
              </a:rPr>
              <a:t> Es </a:t>
            </a:r>
            <a:r>
              <a:rPr lang="es-AR" sz="1600" dirty="0" smtClean="0">
                <a:solidFill>
                  <a:schemeClr val="bg1"/>
                </a:solidFill>
              </a:rPr>
              <a:t>fundamental seguir </a:t>
            </a:r>
            <a:r>
              <a:rPr lang="es-AR" sz="1600" dirty="0">
                <a:solidFill>
                  <a:schemeClr val="bg1"/>
                </a:solidFill>
              </a:rPr>
              <a:t>actualizando nuestras bases de datos (como hicimos con el cambio de población de China) para que los líderes tomen decisiones basadas en la realidad actual y no en datos viejos.</a:t>
            </a:r>
          </a:p>
        </p:txBody>
      </p:sp>
    </p:spTree>
    <p:extLst>
      <p:ext uri="{BB962C8B-B14F-4D97-AF65-F5344CB8AC3E}">
        <p14:creationId xmlns:p14="http://schemas.microsoft.com/office/powerpoint/2010/main" val="811502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5 Imagen"/>
          <p:cNvPicPr>
            <a:picLocks noChangeAspect="1"/>
          </p:cNvPicPr>
          <p:nvPr/>
        </p:nvPicPr>
        <p:blipFill rotWithShape="1">
          <a:blip r:embed="rId2">
            <a:extLst>
              <a:ext uri="{28A0092B-C50C-407E-A947-70E740481C1C}">
                <a14:useLocalDpi xmlns:a14="http://schemas.microsoft.com/office/drawing/2010/main" val="0"/>
              </a:ext>
            </a:extLst>
          </a:blip>
          <a:srcRect b="10036"/>
          <a:stretch/>
        </p:blipFill>
        <p:spPr>
          <a:xfrm>
            <a:off x="0" y="0"/>
            <a:ext cx="9144000" cy="6957392"/>
          </a:xfrm>
          <a:prstGeom prst="rect">
            <a:avLst/>
          </a:prstGeom>
          <a:ln>
            <a:solidFill>
              <a:schemeClr val="accent5"/>
            </a:solidFill>
          </a:ln>
        </p:spPr>
      </p:pic>
      <p:sp>
        <p:nvSpPr>
          <p:cNvPr id="3" name="2 Rectángulo"/>
          <p:cNvSpPr/>
          <p:nvPr/>
        </p:nvSpPr>
        <p:spPr>
          <a:xfrm>
            <a:off x="547426" y="764704"/>
            <a:ext cx="3468257" cy="1107996"/>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s-AR" sz="6600" b="1" spc="150" dirty="0">
                <a:ln w="11430"/>
                <a:solidFill>
                  <a:srgbClr val="F8F8F8"/>
                </a:solidFill>
                <a:effectLst>
                  <a:outerShdw blurRad="25400" algn="tl" rotWithShape="0">
                    <a:srgbClr val="000000">
                      <a:alpha val="43000"/>
                    </a:srgbClr>
                  </a:outerShdw>
                </a:effectLst>
              </a:rPr>
              <a:t>¡Gracias!</a:t>
            </a:r>
            <a:endParaRPr lang="es-ES" sz="6600" b="1" spc="150" dirty="0">
              <a:ln w="11430"/>
              <a:solidFill>
                <a:srgbClr val="F8F8F8"/>
              </a:solidFill>
              <a:effectLst>
                <a:outerShdw blurRad="25400" algn="tl" rotWithShape="0">
                  <a:srgbClr val="000000">
                    <a:alpha val="43000"/>
                  </a:srgbClr>
                </a:outerShdw>
              </a:effectLst>
            </a:endParaRPr>
          </a:p>
        </p:txBody>
      </p:sp>
      <p:sp>
        <p:nvSpPr>
          <p:cNvPr id="13" name="12 CuadroTexto"/>
          <p:cNvSpPr txBox="1"/>
          <p:nvPr/>
        </p:nvSpPr>
        <p:spPr>
          <a:xfrm>
            <a:off x="0" y="6517159"/>
            <a:ext cx="4518248" cy="523220"/>
          </a:xfrm>
          <a:prstGeom prst="rect">
            <a:avLst/>
          </a:prstGeom>
          <a:noFill/>
        </p:spPr>
        <p:txBody>
          <a:bodyPr wrap="square" rtlCol="0">
            <a:spAutoFit/>
          </a:bodyPr>
          <a:lstStyle/>
          <a:p>
            <a:r>
              <a:rPr lang="es-AR" sz="1400" dirty="0" smtClean="0">
                <a:solidFill>
                  <a:schemeClr val="bg1">
                    <a:lumMod val="65000"/>
                  </a:schemeClr>
                </a:solidFill>
              </a:rPr>
              <a:t>Elaborado por: Acosta Génesis </a:t>
            </a:r>
            <a:endParaRPr lang="es-AR" sz="1400" dirty="0">
              <a:solidFill>
                <a:schemeClr val="bg1">
                  <a:lumMod val="65000"/>
                </a:schemeClr>
              </a:solidFill>
            </a:endParaRPr>
          </a:p>
          <a:p>
            <a:endParaRPr lang="es-AR" sz="1400" dirty="0">
              <a:solidFill>
                <a:schemeClr val="bg1">
                  <a:lumMod val="65000"/>
                </a:schemeClr>
              </a:solidFill>
            </a:endParaRPr>
          </a:p>
        </p:txBody>
      </p:sp>
    </p:spTree>
    <p:extLst>
      <p:ext uri="{BB962C8B-B14F-4D97-AF65-F5344CB8AC3E}">
        <p14:creationId xmlns:p14="http://schemas.microsoft.com/office/powerpoint/2010/main" val="193847491"/>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321</TotalTime>
  <Words>636</Words>
  <Application>Microsoft Office PowerPoint</Application>
  <PresentationFormat>Presentación en pantalla (4:3)</PresentationFormat>
  <Paragraphs>56</Paragraphs>
  <Slides>10</Slides>
  <Notes>0</Notes>
  <HiddenSlides>0</HiddenSlides>
  <MMClips>0</MMClips>
  <ScaleCrop>false</ScaleCrop>
  <HeadingPairs>
    <vt:vector size="4" baseType="variant">
      <vt:variant>
        <vt:lpstr>Tema</vt:lpstr>
      </vt:variant>
      <vt:variant>
        <vt:i4>1</vt:i4>
      </vt:variant>
      <vt:variant>
        <vt:lpstr>Títulos de diapositiva</vt:lpstr>
      </vt:variant>
      <vt:variant>
        <vt:i4>10</vt:i4>
      </vt:variant>
    </vt:vector>
  </HeadingPairs>
  <TitlesOfParts>
    <vt:vector size="11"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genesis acosta</dc:creator>
  <cp:lastModifiedBy>genesis acosta</cp:lastModifiedBy>
  <cp:revision>27</cp:revision>
  <dcterms:created xsi:type="dcterms:W3CDTF">2026-02-25T19:04:32Z</dcterms:created>
  <dcterms:modified xsi:type="dcterms:W3CDTF">2026-05-05T07:27:52Z</dcterms:modified>
</cp:coreProperties>
</file>